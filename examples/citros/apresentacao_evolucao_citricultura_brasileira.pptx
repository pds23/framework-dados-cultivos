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1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156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463040" cy="54864"/>
          </a:xfrm>
          <a:prstGeom prst="rect">
            <a:avLst/>
          </a:prstGeom>
          <a:solidFill>
            <a:srgbClr val="C1560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10728655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DA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CITRICULTURA BRASILEIRA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611880"/>
            <a:ext cx="101800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8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Laranja, limão e tangerina sob três fontes independentes — IBGE, Fundecitrus e MapBiomas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101800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Perspectiva histórica nacional (desde 1974/1985) + recorte regional recente (2015-2024)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5029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5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EXPANSÃO E CONTRAÇÃO  ·  ÁREA, PRODUÇÃO E VALOR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15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 executivo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conclusões centrais da análise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1185855" cy="0"/>
          </a:xfrm>
          <a:prstGeom prst="line">
            <a:avLst/>
          </a:prstGeom>
          <a:noFill/>
          <a:ln w="12700">
            <a:solidFill>
              <a:srgbClr val="E1D9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DA CITRICULTURA BRASILEIRA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11002975" cy="480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8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21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material tem duas partes: uma perspectiva histórica NACIONAL de longuíssimo prazo (IBGE desde 1974, MapBiomas desde 1985) e um recorte REGIONAL da janela mais recente, 2015-2024 (onde a produção de fato se concentra).</a:t>
            </a:r>
            <a:endParaRPr lang="en-US" sz="1450" dirty="0"/>
          </a:p>
          <a:p>
            <a:pPr marL="254000" indent="-254000">
              <a:lnSpc>
                <a:spcPct val="118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21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janela recente, laranja: contração física real (menos municípios, menos área plantada), mas forte expansão de valor real — confirmada pelas 3 fontes.</a:t>
            </a:r>
            <a:endParaRPr lang="en-US" sz="1450" dirty="0"/>
          </a:p>
          <a:p>
            <a:pPr marL="254000" indent="-254000">
              <a:lnSpc>
                <a:spcPct val="118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21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Limão e tangerina: padrão oposto na janela recente — expansão genuína, física e de valor.</a:t>
            </a:r>
            <a:endParaRPr lang="en-US" sz="1450" dirty="0"/>
          </a:p>
          <a:p>
            <a:pPr marL="254000" indent="-254000">
              <a:lnSpc>
                <a:spcPct val="118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21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"migração" de produtores da laranja para limão/tangerina no Brasil: só 8,6% dos municípios que saíram da laranja entraram em outra cultura cítrica.</a:t>
            </a:r>
            <a:endParaRPr lang="en-US" sz="1450" dirty="0"/>
          </a:p>
          <a:p>
            <a:pPr marL="254000" indent="-254000">
              <a:lnSpc>
                <a:spcPct val="118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21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mais granular e recente a fonte, mais forte a contração recente da laranja aparece: 40% (IBGE) → 44% (MapBiomas) → 62% (Fundecitrus) dos municípios da região em queda.</a:t>
            </a:r>
            <a:endParaRPr lang="en-US" sz="1450" dirty="0"/>
          </a:p>
          <a:p>
            <a:pPr marL="254000" indent="-254000">
              <a:lnSpc>
                <a:spcPct val="118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21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perspectiva de longo prazo, a área nacional de laranja praticamente dobrou entre 1974 e o final dos anos 1990, e só depois entrou em trajetória de queda — a contração recente é real, mas é um recuo parcial de uma expansão bem maior.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41445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15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duas janelas, duas escalas geográficas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longo em nível nacional; recorte fino na janela mais recente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1185855" cy="0"/>
          </a:xfrm>
          <a:prstGeom prst="line">
            <a:avLst/>
          </a:prstGeom>
          <a:noFill/>
          <a:ln w="12700">
            <a:solidFill>
              <a:srgbClr val="E1D9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DA CITRICULTURA BRASILEIRA</a:t>
            </a:r>
            <a:endParaRPr lang="en-US" sz="8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11185855" cy="2651760"/>
        </p:xfrm>
        <a:graphic>
          <a:graphicData uri="http://schemas.openxmlformats.org/drawingml/2006/table">
            <a:tbl>
              <a:tblPr/>
              <a:tblGrid>
                <a:gridCol w="1737360"/>
                <a:gridCol w="3566160"/>
                <a:gridCol w="3108960"/>
                <a:gridCol w="1463040"/>
              </a:tblGrid>
              <a:tr h="6629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4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Janela histórica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(nacional)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4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Janela recente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(regional, 2015-2024)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4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Culturas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41D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(SIDRA/PAM)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1974-2024 — Brasil inteiro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+ Centro-Oeste + Bahia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Laranja, limão,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tangerina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MapBiomas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(Coleção 11)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1985-2024 — SP, MG, PR, GO,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(únicos estados com registro)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Mesmos SP, MG, PR, GO,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Citros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(classe única)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Fundecitrus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disponível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(só cobre 2015/16 em diante)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 e MG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(cinturão citrícola)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laranja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4663440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 a Parte 1 deste material (histórico) é sempre nacional — ou tão ampla quanto a fonte permite — e a Parte 2 (janela 2015-2024) é sempre regional, focada onde a produção de citros de fato se concentra. Valores monetários do IBGE deflacionados pelo IPCA para R$ de dez/2024.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41445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1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156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15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7286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Perspectiva histórica nacional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D8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série mais longa disponível em cada fonte, sempre em escala nacional (ou tão ampla quanto a fonte cobre)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10545775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D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IBGE: 1974-2024, Brasil inteiro, laranja/limão/tangerina separados</a:t>
            </a:r>
            <a:endParaRPr lang="en-US" sz="140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D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MapBiomas: 1985-2024, restrito a SP/MG/PR/GO/MS (únicos estados com a classe "Citrus")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1445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15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2714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Laranja — evolução histórica nacional, 1974-2024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317175" y="256032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317175" y="25603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3E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IBGE · Brasil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1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colhida de laranja no Brasil inteiro, indexada a 1974 = 100%. A expansão foi forte até o fim dos anos 1990; a contração recente é um recuo parcial dessa expansão.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577879" y="1463040"/>
            <a:ext cx="5035938" cy="4791456"/>
          </a:xfrm>
          <a:prstGeom prst="roundRect">
            <a:avLst>
              <a:gd name="adj" fmla="val 1145"/>
            </a:avLst>
          </a:prstGeom>
          <a:solidFill>
            <a:srgbClr val="FFFFFF"/>
          </a:solidFill>
          <a:ln w="12700">
            <a:solidFill>
              <a:srgbClr val="E1D9CC"/>
            </a:solidFill>
            <a:prstDash val="solid"/>
          </a:ln>
        </p:spPr>
      </p:sp>
      <p:pic>
        <p:nvPicPr>
          <p:cNvPr id="8" name="Image 0" descr="C:\Users\user\OneDrive\Documentos\dados_citrus\ibge\geo\mapas\laranja\evolucao_historica\mapa_evolucao_historica_laranja_1974_2000_20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1031" y="1536192"/>
            <a:ext cx="4889634" cy="46451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30936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arquivo: </a:t>
            </a:r>
            <a:pPr algn="ctr" indent="0" marL="0">
              <a:buNone/>
            </a:pPr>
            <a:r>
              <a:rPr lang="en-US" sz="10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mapa_evolucao_historica_laranja_1974_2000_2024.png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41445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15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2714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Limão — evolução histórica nacional, 1974-2024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317175" y="256032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317175" y="25603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3E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IBGE · Brasil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1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colhida de limão no Brasil inteiro, indexada a 1974 = 100%. Ao contrário da laranja, a área segue em expansão sustentada desde meados dos anos 2010.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577879" y="1463040"/>
            <a:ext cx="5035938" cy="4791456"/>
          </a:xfrm>
          <a:prstGeom prst="roundRect">
            <a:avLst>
              <a:gd name="adj" fmla="val 1145"/>
            </a:avLst>
          </a:prstGeom>
          <a:solidFill>
            <a:srgbClr val="FFFFFF"/>
          </a:solidFill>
          <a:ln w="12700">
            <a:solidFill>
              <a:srgbClr val="E1D9CC"/>
            </a:solidFill>
            <a:prstDash val="solid"/>
          </a:ln>
        </p:spPr>
      </p:sp>
      <p:pic>
        <p:nvPicPr>
          <p:cNvPr id="8" name="Image 0" descr="C:\Users\user\OneDrive\Documentos\dados_citrus\ibge\geo\mapas\limao\evolucao_historica\mapa_evolucao_historica_limao_1974_2000_20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1031" y="1536192"/>
            <a:ext cx="4889634" cy="46451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30936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arquivo: </a:t>
            </a:r>
            <a:pPr algn="ctr" indent="0" marL="0">
              <a:buNone/>
            </a:pPr>
            <a:r>
              <a:rPr lang="en-US" sz="10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mapa_evolucao_historica_limao_1974_2000_2024.png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41445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15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2714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Tangerina — evolução histórica nacional, 1974-2024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317175" y="256032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317175" y="25603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3E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IBGE · Brasil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1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colhida de tangerina no Brasil inteiro, indexada a 1974 = 100%. Trajetória mais irregular que o limão, mas também em expansão na última década.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577879" y="1463040"/>
            <a:ext cx="5035938" cy="4791456"/>
          </a:xfrm>
          <a:prstGeom prst="roundRect">
            <a:avLst>
              <a:gd name="adj" fmla="val 1145"/>
            </a:avLst>
          </a:prstGeom>
          <a:solidFill>
            <a:srgbClr val="FFFFFF"/>
          </a:solidFill>
          <a:ln w="12700">
            <a:solidFill>
              <a:srgbClr val="E1D9CC"/>
            </a:solidFill>
            <a:prstDash val="solid"/>
          </a:ln>
        </p:spPr>
      </p:sp>
      <p:pic>
        <p:nvPicPr>
          <p:cNvPr id="8" name="Image 0" descr="C:\Users\user\OneDrive\Documentos\dados_citrus\ibge\geo\mapas\tangerina\evolucao_historica\mapa_evolucao_historica_tangerina_1974_2000_20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1031" y="1536192"/>
            <a:ext cx="4889634" cy="46451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30936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arquivo: </a:t>
            </a:r>
            <a:pPr algn="ctr" indent="0" marL="0">
              <a:buNone/>
            </a:pPr>
            <a:r>
              <a:rPr lang="en-US" sz="10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mapa_evolucao_historica_tangerina_1974_2000_2024.png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41445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15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2714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Citros — evolução histórica, 1985-2024 (satélite)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317175" y="256032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317175" y="25603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3E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MapBiomas · 5 estados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1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MapBiomas detecta citros por satélite desde 1985, mas só tem registro da classe em SP, MG, PR, GO e MS — não é comparável em área absoluta com o IBGE, mas mostra a mesma direção: expansão forte até ~2015-2020, depois estabilização.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577879" y="1463040"/>
            <a:ext cx="5035938" cy="4791456"/>
          </a:xfrm>
          <a:prstGeom prst="roundRect">
            <a:avLst>
              <a:gd name="adj" fmla="val 1145"/>
            </a:avLst>
          </a:prstGeom>
          <a:solidFill>
            <a:srgbClr val="FFFFFF"/>
          </a:solidFill>
          <a:ln w="12700">
            <a:solidFill>
              <a:srgbClr val="E1D9CC"/>
            </a:solidFill>
            <a:prstDash val="solid"/>
          </a:ln>
        </p:spPr>
      </p:sp>
      <p:pic>
        <p:nvPicPr>
          <p:cNvPr id="8" name="Image 0" descr="C:\Users\user\OneDrive\Documentos\dados_citrus\mapbiomas\geo\mapas\citros\mapa_evolucao_citros_1985_2000_20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1031" y="1536192"/>
            <a:ext cx="4889634" cy="46451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30936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arquivo: </a:t>
            </a:r>
            <a:pPr algn="ctr" indent="0" marL="0">
              <a:buNone/>
            </a:pPr>
            <a:r>
              <a:rPr lang="en-US" sz="10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mapa_evolucao_citros_1985_2000_2024.png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41445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15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citricultura está "migrando" de laranja para limão/tangerina?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 inteiro, 2015-2024 (contagem de municípios — não depende de mapa)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1185855" cy="0"/>
          </a:xfrm>
          <a:prstGeom prst="line">
            <a:avLst/>
          </a:prstGeom>
          <a:noFill/>
          <a:ln w="12700">
            <a:solidFill>
              <a:srgbClr val="E1D9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DA CITRICULTURA BRASILEIRA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280160" y="1920240"/>
            <a:ext cx="9601200" cy="914400"/>
          </a:xfrm>
          <a:prstGeom prst="roundRect">
            <a:avLst>
              <a:gd name="adj" fmla="val 12000"/>
            </a:avLst>
          </a:prstGeom>
          <a:solidFill>
            <a:srgbClr val="C1560B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19202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— os dados não confirmam essa hipótese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280160" y="32004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1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</a:t>
            </a:r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1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628 municípios</a:t>
            </a:r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1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saíram da laranja entre 2015-2024, apenas </a:t>
            </a:r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15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(8,6%)</a:t>
            </a:r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1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também entraram em limão e/ou tangerina no mesmo período.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4206240"/>
            <a:ext cx="9235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</a:t>
            </a:r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806 municípios</a:t>
            </a:r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entraram em limão/tangerina são, na maioria, lugares sem tradição forte em nenhum citros antes — a expansão dessas duas culturas é geograficamente distinta da contração da laranja.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1445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1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156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15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7286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Recorte regional recente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(2015-2024)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D8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janela de 10 anos, sempre no recorte onde a fonte tem cobertura consistente e a produção de fato se concentra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10545775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D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IBGE: municípios de Sudeste + Centro-Oeste + Bahia</a:t>
            </a:r>
            <a:endParaRPr lang="en-US" sz="140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D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MapBiomas: SP, MG, PR, GO e MS (mesmo recorte da Parte 1)</a:t>
            </a:r>
            <a:endParaRPr lang="en-US" sz="140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D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Fundecitrus: SP e MG (cinturão citrícola tradicional)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1445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15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Laranja: contração física, mas expansão de valor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Recorte Sudeste + Centro-Oeste + Bahia, variação 2015 → 2024 (IBGE)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1185855" cy="0"/>
          </a:xfrm>
          <a:prstGeom prst="line">
            <a:avLst/>
          </a:prstGeom>
          <a:noFill/>
          <a:ln w="12700">
            <a:solidFill>
              <a:srgbClr val="E1D9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DA CITRICULTURA BRASILEIRA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920240"/>
          <a:ext cx="10332720" cy="2743200"/>
        </p:xfrm>
        <a:graphic>
          <a:graphicData uri="http://schemas.openxmlformats.org/drawingml/2006/table">
            <a:tbl>
              <a:tblPr/>
              <a:tblGrid>
                <a:gridCol w="4754880"/>
                <a:gridCol w="1856232"/>
                <a:gridCol w="1856232"/>
                <a:gridCol w="1865376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4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4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4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41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Municípios produtores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-6,6%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destinada à colheita (mil ha)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549,0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462,2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-15,8%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Quantidade produzida (mil 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14.691,6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13.770,2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-6,3%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real da produção (R$ milhões, dez/2024)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7.239,7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25.257,9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7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+248,9%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914400" y="48463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essa divergência entre o que acontece fisicamente no território e o valor gerado que motiva a investigação — o mapa a seguir mostra essa divergência, município a município, no recorte regional.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41445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15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2714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Laranja — divergência física × valor, recorte regional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317175" y="256032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317175" y="25603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3E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IBGE · Regional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1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Variação percentual 2015→2024 de área colhida, quantidade produzida e valor real da produção, por município — Sudeste, Centro-Oeste e Bahia (IBGE).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958188" y="1463040"/>
            <a:ext cx="8275320" cy="4791456"/>
          </a:xfrm>
          <a:prstGeom prst="roundRect">
            <a:avLst>
              <a:gd name="adj" fmla="val 1145"/>
            </a:avLst>
          </a:prstGeom>
          <a:solidFill>
            <a:srgbClr val="FFFFFF"/>
          </a:solidFill>
          <a:ln w="12700">
            <a:solidFill>
              <a:srgbClr val="E1D9CC"/>
            </a:solidFill>
            <a:prstDash val="solid"/>
          </a:ln>
        </p:spPr>
      </p:sp>
      <p:pic>
        <p:nvPicPr>
          <p:cNvPr id="8" name="Image 0" descr="C:\Users\user\OneDrive\Documentos\dados_citrus\ibge\geo\mapas\laranja\divergencia_producao_valor\variacao_percentual\mapa_divergencia_variacao_percentual_uf_sudeste_centro_oeste_bahia_laranja_2015_20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1340" y="1536192"/>
            <a:ext cx="8129016" cy="46451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30936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arquivo: </a:t>
            </a:r>
            <a:pPr algn="ctr" indent="0" marL="0">
              <a:buNone/>
            </a:pPr>
            <a:r>
              <a:rPr lang="en-US" sz="10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mapa_divergencia_variacao_percentual_uf_sudeste_centro_oeste_bahia_laranja_2015_2024.png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41445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15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Limão e tangerina: um padrão oposto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Recorte Sudeste + Centro-Oeste + Bahia, variação 2015 → 2024, por cultura (IBGE)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1185855" cy="0"/>
          </a:xfrm>
          <a:prstGeom prst="line">
            <a:avLst/>
          </a:prstGeom>
          <a:noFill/>
          <a:ln w="12700">
            <a:solidFill>
              <a:srgbClr val="E1D9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DA CITRICULTURA BRASILEIRA</a:t>
            </a:r>
            <a:endParaRPr lang="en-US" sz="8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20240"/>
          <a:ext cx="10515600" cy="2377440"/>
        </p:xfrm>
        <a:graphic>
          <a:graphicData uri="http://schemas.openxmlformats.org/drawingml/2006/table">
            <a:tbl>
              <a:tblPr/>
              <a:tblGrid>
                <a:gridCol w="4114800"/>
                <a:gridCol w="2130552"/>
                <a:gridCol w="2130552"/>
                <a:gridCol w="2139696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4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Laranja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4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4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Tangerina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41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Municípios produtores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3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-6,6%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7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+33,8%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7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+22,1%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destinada à colheita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3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-15,8%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7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+92,5%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7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+32,6%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Quantidade produzida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3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-6,3%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7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+40,6%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7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+8,8%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real da produção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7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+248,9%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7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+86,4%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7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+123,1%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22960" y="4572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recorte regional, limão e tangerina crescem em todas as frentes — o oposto da laranja. Os dois mapas a seguir mostram onde, dentro da mesma região.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41445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15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2714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Limão — divergência física × valor, recorte regional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317175" y="256032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317175" y="25603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3E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IBGE · Regional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1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Variação percentual 2015→2024 de área colhida, quantidade produzida e valor real da produção, por município — Sudeste, Centro-Oeste e Bahia (IBGE).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958188" y="1463040"/>
            <a:ext cx="8275320" cy="4791456"/>
          </a:xfrm>
          <a:prstGeom prst="roundRect">
            <a:avLst>
              <a:gd name="adj" fmla="val 1145"/>
            </a:avLst>
          </a:prstGeom>
          <a:solidFill>
            <a:srgbClr val="FFFFFF"/>
          </a:solidFill>
          <a:ln w="12700">
            <a:solidFill>
              <a:srgbClr val="E1D9CC"/>
            </a:solidFill>
            <a:prstDash val="solid"/>
          </a:ln>
        </p:spPr>
      </p:sp>
      <p:pic>
        <p:nvPicPr>
          <p:cNvPr id="8" name="Image 0" descr="C:\Users\user\OneDrive\Documentos\dados_citrus\ibge\geo\mapas\limao\divergencia_producao_valor\variacao_percentual\mapa_divergencia_variacao_percentual_uf_sudeste_centro_oeste_bahia_limao_2015_20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1340" y="1536192"/>
            <a:ext cx="8129016" cy="46451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30936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arquivo: </a:t>
            </a:r>
            <a:pPr algn="ctr" indent="0" marL="0">
              <a:buNone/>
            </a:pPr>
            <a:r>
              <a:rPr lang="en-US" sz="10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mapa_divergencia_variacao_percentual_uf_sudeste_centro_oeste_bahia_limao_2015_2024.png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41445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15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2714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Tangerina — divergência física × valor, recorte regional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317175" y="256032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317175" y="25603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3E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IBGE · Regional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1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Variação percentual 2015→2024 de área colhida, quantidade produzida e valor real da produção, por município — Sudeste, Centro-Oeste e Bahia (IBGE).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958188" y="1463040"/>
            <a:ext cx="8275320" cy="4791456"/>
          </a:xfrm>
          <a:prstGeom prst="roundRect">
            <a:avLst>
              <a:gd name="adj" fmla="val 1145"/>
            </a:avLst>
          </a:prstGeom>
          <a:solidFill>
            <a:srgbClr val="FFFFFF"/>
          </a:solidFill>
          <a:ln w="12700">
            <a:solidFill>
              <a:srgbClr val="E1D9CC"/>
            </a:solidFill>
            <a:prstDash val="solid"/>
          </a:ln>
        </p:spPr>
      </p:sp>
      <p:pic>
        <p:nvPicPr>
          <p:cNvPr id="8" name="Image 0" descr="C:\Users\user\OneDrive\Documentos\dados_citrus\ibge\geo\mapas\tangerina\divergencia_producao_valor\variacao_percentual\mapa_divergencia_variacao_percentual_uf_sudeste_centro_oeste_bahia_tangerina_2015_20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1340" y="1536192"/>
            <a:ext cx="8129016" cy="46451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30936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arquivo: </a:t>
            </a:r>
            <a:pPr algn="ctr" indent="0" marL="0">
              <a:buNone/>
            </a:pPr>
            <a:r>
              <a:rPr lang="en-US" sz="10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mapa_divergencia_variacao_percentual_uf_sudeste_centro_oeste_bahia_tangerina_2015_2024.png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41445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15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cruzada entre as três fontes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Variação percentual de área 2015 → 2024, por município — todas em recorte regional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1185855" cy="0"/>
          </a:xfrm>
          <a:prstGeom prst="line">
            <a:avLst/>
          </a:prstGeom>
          <a:noFill/>
          <a:ln w="12700">
            <a:solidFill>
              <a:srgbClr val="E1D9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DA CITRICULTURA BRASILEIRA</a:t>
            </a:r>
            <a:endParaRPr lang="en-US" sz="8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920240"/>
          <a:ext cx="10820095" cy="18288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1371600"/>
                <a:gridCol w="1280160"/>
                <a:gridCol w="128016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4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4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Municípios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4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queda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4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estável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4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alta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4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novo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41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IBGE (laranja)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+ CO + BA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7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MapBiomas (citros)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SP, MG, PR, GO,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7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Fundecitrus (laranja)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 e MG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7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1C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22960" y="4206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mais granular e recente a fonte, mais forte o sinal de contração física da laranja — as três fontes, todas em recorte regional, convergem na mesma direção. Os mapas a seguir mostram o padrão espacial em cada uma.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41445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15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2714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cruzada — MapBiomas (satélite)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317175" y="256032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317175" y="25603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3E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MapBiomas · Regional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1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Variação percentual (esq.) e absoluta (dir.) 2015→2024 da área de citros identificada por satélite, por município — recorte SP, MG, PR, GO e MS.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177455" y="1463040"/>
            <a:ext cx="7836785" cy="4791456"/>
          </a:xfrm>
          <a:prstGeom prst="roundRect">
            <a:avLst>
              <a:gd name="adj" fmla="val 1145"/>
            </a:avLst>
          </a:prstGeom>
          <a:solidFill>
            <a:srgbClr val="FFFFFF"/>
          </a:solidFill>
          <a:ln w="12700">
            <a:solidFill>
              <a:srgbClr val="E1D9CC"/>
            </a:solidFill>
            <a:prstDash val="solid"/>
          </a:ln>
        </p:spPr>
      </p:sp>
      <p:pic>
        <p:nvPicPr>
          <p:cNvPr id="8" name="Image 0" descr="C:\Users\user\OneDrive\Documentos\dados_citrus\mapbiomas\geo\mapas\citros\mapa_divergencia_citros_2015_20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0607" y="1536192"/>
            <a:ext cx="7690481" cy="46451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30936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arquivo: </a:t>
            </a:r>
            <a:pPr algn="ctr" indent="0" marL="0">
              <a:buNone/>
            </a:pPr>
            <a:r>
              <a:rPr lang="en-US" sz="10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mapa_divergencia_citros_2015_2024.png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41445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C15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02714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cruzada — Fundecitrus (inventário de árvores)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317175" y="256032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317175" y="25603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3E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Fundecitrus · Regional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1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Variação percentual (esq.) e absoluta (dir.) 2015→2024 da área colhida de laranja distribuída por município — recorte SP e MG.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853683" y="1463040"/>
            <a:ext cx="6484330" cy="4791456"/>
          </a:xfrm>
          <a:prstGeom prst="roundRect">
            <a:avLst>
              <a:gd name="adj" fmla="val 1145"/>
            </a:avLst>
          </a:prstGeom>
          <a:solidFill>
            <a:srgbClr val="FFFFFF"/>
          </a:solidFill>
          <a:ln w="12700">
            <a:solidFill>
              <a:srgbClr val="E1D9CC"/>
            </a:solidFill>
            <a:prstDash val="solid"/>
          </a:ln>
        </p:spPr>
      </p:sp>
      <p:pic>
        <p:nvPicPr>
          <p:cNvPr id="8" name="Image 0" descr="C:\Users\user\OneDrive\Documentos\dados_citrus\fundecitrus\geo\mapas\mapa_divergencia_area_laranja_2015_20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835" y="1536192"/>
            <a:ext cx="6338026" cy="46451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309360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arquivo: </a:t>
            </a:r>
            <a:pPr algn="ctr" indent="0" marL="0">
              <a:buNone/>
            </a:pPr>
            <a:r>
              <a:rPr lang="en-US" sz="10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mapa_divergencia_area_laranja_2015_2024.png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41445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15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e ressalvas metodológicas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E1D9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DA CITRICULTURA BRASILEIRA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11002975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8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21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fontes não são diretamente comparáveis em valores absolutos — cada uma mede um conceito diferente (declarado, inventariado, detectado por satélite).</a:t>
            </a:r>
            <a:endParaRPr lang="en-US" sz="1350" dirty="0"/>
          </a:p>
          <a:p>
            <a:pPr marL="254000" indent="-254000">
              <a:lnSpc>
                <a:spcPct val="118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21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MapBiomas não distingue laranja, limão e tangerina — "Citrus" é uma classe única.</a:t>
            </a:r>
            <a:endParaRPr lang="en-US" sz="1350" dirty="0"/>
          </a:p>
          <a:p>
            <a:pPr marL="254000" indent="-254000">
              <a:lnSpc>
                <a:spcPct val="118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21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classe Citrus do MapBiomas só tem registros em SP, MG, PR, GO e MS — sem dado para BA, ES, RJ ou MT (provável limitação do classificador, não ausência real de citros).</a:t>
            </a:r>
            <a:endParaRPr lang="en-US" sz="1350" dirty="0"/>
          </a:p>
          <a:p>
            <a:pPr marL="254000" indent="-254000">
              <a:lnSpc>
                <a:spcPct val="118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21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Fundecitrus cobre exclusivamente laranja, concentrado no cinturão citrícola tradicional (SP + Triângulo Mineiro/MG) — sem cobertura nacional nem série histórica anterior a 2015.</a:t>
            </a:r>
            <a:endParaRPr lang="en-US" sz="1350" dirty="0"/>
          </a:p>
          <a:p>
            <a:pPr marL="254000" indent="-254000">
              <a:lnSpc>
                <a:spcPct val="118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21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janela histórica nacional (Parte 1) usa "área colhida" do IBGE, não "área destinada à colheita" — essa segunda variável só existe a partir de 1988 e é a usada no recorte recente (Parte 2).</a:t>
            </a:r>
            <a:endParaRPr lang="en-US" sz="1350" dirty="0"/>
          </a:p>
          <a:p>
            <a:pPr marL="254000" indent="-254000">
              <a:lnSpc>
                <a:spcPct val="118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21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monetários do IBGE foram deflacionados pelo IPCA para permitir comparação real entre os anos.</a:t>
            </a:r>
            <a:endParaRPr lang="en-US" sz="1350" dirty="0"/>
          </a:p>
          <a:p>
            <a:pPr marL="254000" indent="-254000">
              <a:lnSpc>
                <a:spcPct val="118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211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faixas de variação percentual (queda/estável/alta) são classificação própria deste estudo, não categoria oficial de nenhuma fonte.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41445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11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C156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54577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perspectiva longa e nacional, a citricultura brasileira já passou por uma expansão bem maior do que a contração recente sugere — a área de laranja quase triplicou entre 1974 e o fim dos anos 1990, e só depois começou a recuar.
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janela recente (2015-2024), regionalmente: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C15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laranja 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segue em contração física combinada com forte expansão de valor;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C15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limão e tangerina 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vivem expansão genuína, física e de valor.
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Reunir IBGE, Fundecitrus e MapBiomas — cada um na escala onde tem cobertura confiável — permitiu testar essas conclusões de forma cruzada, e todas convergem na mesma direção.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2026-09-10T20:56:36Z</dcterms:created>
  <dcterms:modified xsi:type="dcterms:W3CDTF">2026-09-10T20:56:36Z</dcterms:modified>
</cp:coreProperties>
</file>